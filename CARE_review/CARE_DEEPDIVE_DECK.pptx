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Condensed from the full evidence review. Every number is cited to a source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1828800" cy="1828800"/>
          </a:xfrm>
          <a:prstGeom prst="ellipse">
            <a:avLst/>
          </a:prstGeom>
          <a:solidFill>
            <a:srgbClr val="FFFFFF">
              <a:alpha val="8000"/>
            </a:srgbClr>
          </a:solidFill>
          <a:ln w="15875">
            <a:solidFill>
              <a:srgbClr val="5C8A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2788920"/>
            <a:ext cx="1828800" cy="1828800"/>
          </a:xfrm>
          <a:prstGeom prst="ellipse">
            <a:avLst/>
          </a:prstGeom>
          <a:solidFill>
            <a:srgbClr val="FFFFFF">
              <a:alpha val="8000"/>
            </a:srgbClr>
          </a:solidFill>
          <a:ln w="15875">
            <a:solidFill>
              <a:srgbClr val="5C8A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4160520"/>
            <a:ext cx="1828800" cy="1828800"/>
          </a:xfrm>
          <a:prstGeom prst="ellipse">
            <a:avLst/>
          </a:prstGeom>
          <a:solidFill>
            <a:srgbClr val="FFFFFF">
              <a:alpha val="8000"/>
            </a:srgbClr>
          </a:solidFill>
          <a:ln w="15875">
            <a:solidFill>
              <a:srgbClr val="5C8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14173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29800" y="27889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32520" y="41605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417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REVIEW  ·  AUGUST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87452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High-Impact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Nutrition Interventions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66928" y="3703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CMAM · Breastfeeding Support · Antenatal MMS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66928" y="42245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CARE and IA partners — Save the Children and Mercy Corps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C1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interventions, reviewed in depth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and IA partners narrowed an initial 15-intervention synthesis to three.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1847088"/>
            <a:ext cx="3529584" cy="2304288"/>
          </a:xfrm>
          <a:prstGeom prst="roundRect">
            <a:avLst>
              <a:gd name="adj" fmla="val 3571"/>
            </a:avLst>
          </a:prstGeom>
          <a:solidFill>
            <a:srgbClr val="E8EFE9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84832"/>
            <a:ext cx="420624" cy="420624"/>
          </a:xfrm>
          <a:prstGeom prst="ellipse">
            <a:avLst/>
          </a:prstGeom>
          <a:solidFill>
            <a:srgbClr val="C1622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53312" y="20665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CMAM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25786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Community-based Management of Acute Malnutrition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145536"/>
            <a:ext cx="3017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already-malnourished children at home rather than in hospital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34256" y="1847088"/>
            <a:ext cx="3529584" cy="2304288"/>
          </a:xfrm>
          <a:prstGeom prst="roundRect">
            <a:avLst>
              <a:gd name="adj" fmla="val 3571"/>
            </a:avLst>
          </a:prstGeom>
          <a:solidFill>
            <a:srgbClr val="E8EFE9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90288" y="2084832"/>
            <a:ext cx="420624" cy="420624"/>
          </a:xfrm>
          <a:prstGeom prst="ellipse">
            <a:avLst/>
          </a:prstGeom>
          <a:solidFill>
            <a:srgbClr val="C1622F"/>
          </a:solidFill>
          <a:ln/>
        </p:spPr>
      </p:sp>
      <p:sp>
        <p:nvSpPr>
          <p:cNvPr id="13" name="Text 11"/>
          <p:cNvSpPr/>
          <p:nvPr/>
        </p:nvSpPr>
        <p:spPr>
          <a:xfrm>
            <a:off x="4590288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20640" y="20665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Breastfeeding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90288" y="25786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and support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90288" y="3145536"/>
            <a:ext cx="3017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support around delivery, plus community counselling afterwards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01584" y="1847088"/>
            <a:ext cx="3529584" cy="2304288"/>
          </a:xfrm>
          <a:prstGeom prst="roundRect">
            <a:avLst>
              <a:gd name="adj" fmla="val 3571"/>
            </a:avLst>
          </a:prstGeom>
          <a:solidFill>
            <a:srgbClr val="E8EFE9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57616" y="2084832"/>
            <a:ext cx="420624" cy="420624"/>
          </a:xfrm>
          <a:prstGeom prst="ellipse">
            <a:avLst/>
          </a:prstGeom>
          <a:solidFill>
            <a:srgbClr val="C1622F"/>
          </a:solidFill>
          <a:ln/>
        </p:spPr>
      </p:sp>
      <p:sp>
        <p:nvSpPr>
          <p:cNvPr id="19" name="Text 17"/>
          <p:cNvSpPr/>
          <p:nvPr/>
        </p:nvSpPr>
        <p:spPr>
          <a:xfrm>
            <a:off x="8357616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887968" y="20665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MMS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357616" y="25786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Antenatal Multiple Micronutrient Supplementation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57616" y="3145536"/>
            <a:ext cx="3017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supplement in pregnancy, replacing iron-folic acid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4443984"/>
            <a:ext cx="11027664" cy="841248"/>
          </a:xfrm>
          <a:prstGeom prst="roundRect">
            <a:avLst>
              <a:gd name="adj" fmla="val 9783"/>
            </a:avLst>
          </a:prstGeom>
          <a:solidFill>
            <a:srgbClr val="F7EAE1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77824" y="4443984"/>
            <a:ext cx="10405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out of scope. </a:t>
            </a:r>
            <a:pPr indent="0" marL="0">
              <a:buNone/>
            </a:pPr>
            <a:r>
              <a:rPr lang="en-US" sz="13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and throughout — excluded from searches, extraction and synthesis. It is the subject of a separate phase.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three interventions work.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fails on evidence.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29718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E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case, the gap between trial performance and programme performance is larger than the gap between the intervention and its comparator.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66928" y="38221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operationalization gap — and it is where the returns are.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4572000"/>
            <a:ext cx="10424160" cy="1051560"/>
          </a:xfrm>
          <a:prstGeom prst="roundRect">
            <a:avLst>
              <a:gd name="adj" fmla="val 7826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4572000"/>
            <a:ext cx="98023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does not grade the three against one another. They are measured on different outcomes, against different comparators, in literatures at different stages — a common scale would imply a comparability the evidence does not support.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C1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OPERATIONALIZATION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programmes actually achieve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529584" cy="3566160"/>
          </a:xfrm>
          <a:prstGeom prst="roundRect">
            <a:avLst>
              <a:gd name="adj" fmla="val 2332"/>
            </a:avLst>
          </a:prstGeom>
          <a:solidFill>
            <a:srgbClr val="F7EAE1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83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16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38.3%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41248" y="27432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malnutrition cases reached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41248" y="3364992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44 assessments in 21 countries, 2012–13. In Ethiopia — the only country at national scale — recovery fell from 72% to 69% as the programme matured.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4754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10.1371/journal.pone.0128666 · PMID 32631260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334256" y="1572768"/>
            <a:ext cx="3529584" cy="3566160"/>
          </a:xfrm>
          <a:prstGeom prst="roundRect">
            <a:avLst>
              <a:gd name="adj" fmla="val 2332"/>
            </a:avLst>
          </a:prstGeom>
          <a:solidFill>
            <a:srgbClr val="E8EFE9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08576" y="1783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41–46%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608576" y="27432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women take antenatal supplements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08576" y="3364992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adherence has been pooled, in Ethiopia. Rates elsewhere run much higher — 77–82% in parts of north India — so this is a documented problem, not a universal rate.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08576" y="4754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10.1186/s12884-020-2835-0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101584" y="1572768"/>
            <a:ext cx="3529584" cy="3566160"/>
          </a:xfrm>
          <a:prstGeom prst="roundRect">
            <a:avLst>
              <a:gd name="adj" fmla="val 2332"/>
            </a:avLst>
          </a:prstGeom>
          <a:solidFill>
            <a:srgbClr val="E8EFE9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75904" y="1783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70%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375904" y="27432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breastfeeding coverage, near-universally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75904" y="3364992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global target almost everywhere measured. West Africa: exclusive breastfeeding 36.5%, early initiation 48.7%.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75904" y="4754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PMID 39764605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66928" y="5358384"/>
            <a:ext cx="11027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Efficacy is not what is failing. Delivery is.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C1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evidence base shows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27664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3749040"/>
                <a:gridCol w="2743200"/>
                <a:gridCol w="270662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evidence establishes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 not show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Binding constraint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Home-based treatment of acute malnutrition works, and how to deliver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size of the benefit against no treatment — never measured, and now unmeasurable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Coverage: under 40% of cases reached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Breastfeeding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works via professionals or peers, and better in LMICs than high-income settings. Kangaroo Mother Care cuts newborn deaths RR 0.68, high certainty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facility and community components hand over to each other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intensity and 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9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Outperforms iron-folic acid on low birthweight (RR 0.85), small-for-gestational-age and stillbirth, across very large samples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reduction in perinatal mortality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Adherence, and effectiveness rather than efficacy 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254496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is a risk ratio: 1.00 means no difference, below 1 is fewer events. A bracketed range crossing 1.00 is not statistically significant.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C1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OF 3 — AGAINST INTUITION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Kangaroo Mother Care is the strongest result here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4114800" cy="3383280"/>
          </a:xfrm>
          <a:prstGeom prst="roundRect">
            <a:avLst>
              <a:gd name="adj" fmla="val 2432"/>
            </a:avLst>
          </a:prstGeom>
          <a:solidFill>
            <a:srgbClr val="1F3D2B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2024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841248" y="31272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newborn deaths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360273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0.68 (0.53–0.87)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studies · 10,505 infants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4498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10.1136/bmjgh-2022-010728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0" y="1719072"/>
            <a:ext cx="365760" cy="365760"/>
          </a:xfrm>
          <a:prstGeom prst="ellipse">
            <a:avLst/>
          </a:prstGeom>
          <a:solidFill>
            <a:srgbClr val="C1622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59552" y="168249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high-certainty rating in the review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59552" y="2048256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three interventions, no other finding carries a formal high-certainty grade.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0" y="2852928"/>
            <a:ext cx="365760" cy="365760"/>
          </a:xfrm>
          <a:prstGeom prst="ellipse">
            <a:avLst/>
          </a:prstGeom>
          <a:solidFill>
            <a:srgbClr val="C1622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59552" y="281635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commodity. No equipment.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559552" y="318211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skin-to-skin holding of the newborn — it requires staff time and space, not a supply chain.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0" y="3986784"/>
            <a:ext cx="365760" cy="365760"/>
          </a:xfrm>
          <a:prstGeom prst="ellipse">
            <a:avLst/>
          </a:prstGeom>
          <a:solidFill>
            <a:srgbClr val="C1622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59552" y="39502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in both settings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559552" y="4315968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Facility-initiated RR 0.62, community-initiated RR 0.71 — which is why the delivery channel is not the choice to make.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C1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OF 3 — AGAINST INTUITION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MMS and survival: more mixed than it looks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summary would say MMS improves birth outcomes but not survival. The evidence separates into three groups of genuinely different strength.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11027664" cy="1152144"/>
          </a:xfrm>
          <a:prstGeom prst="roundRect">
            <a:avLst>
              <a:gd name="adj" fmla="val 7143"/>
            </a:avLst>
          </a:prstGeom>
          <a:solidFill>
            <a:srgbClr val="F7EAE1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49424"/>
            <a:ext cx="402336" cy="402336"/>
          </a:xfrm>
          <a:prstGeom prst="ellipse">
            <a:avLst/>
          </a:prstGeom>
          <a:solidFill>
            <a:srgbClr val="C1622F"/>
          </a:solidFill>
          <a:ln/>
        </p:spPr>
      </p:sp>
      <p:sp>
        <p:nvSpPr>
          <p:cNvPr id="7" name="Text 5"/>
          <p:cNvSpPr/>
          <p:nvPr/>
        </p:nvSpPr>
        <p:spPr>
          <a:xfrm>
            <a:off x="1426464" y="201168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Stillbirth is reduced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26464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0.91 · 22 studies · N=96,772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91456" y="2039112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Replicated across four of five large syntheses on samples approaching 100,000 pregnancies. A stillbirth is a death — so this is a survival benefit.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222992" y="22768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PMID 37051178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3191256"/>
            <a:ext cx="11027664" cy="1152144"/>
          </a:xfrm>
          <a:prstGeom prst="roundRect">
            <a:avLst>
              <a:gd name="adj" fmla="val 7143"/>
            </a:avLst>
          </a:prstGeom>
          <a:solidFill>
            <a:srgbClr val="E8EFE9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3566160"/>
            <a:ext cx="402336" cy="402336"/>
          </a:xfrm>
          <a:prstGeom prst="ellipse">
            <a:avLst/>
          </a:prstGeom>
          <a:solidFill>
            <a:srgbClr val="1F3D2B"/>
          </a:solidFill>
          <a:ln/>
        </p:spPr>
      </p:sp>
      <p:sp>
        <p:nvSpPr>
          <p:cNvPr id="13" name="Text 11"/>
          <p:cNvSpPr/>
          <p:nvPr/>
        </p:nvSpPr>
        <p:spPr>
          <a:xfrm>
            <a:off x="1426464" y="332841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Perinatal mortality is not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426464" y="37398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1.00 (0.90–1.11) · 16 studies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91456" y="3355848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tight interval centred on no effect. This is a well-powered null — real evidence of no benefit, not an absence of data.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222992" y="35935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PMID 32075071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66928" y="4507992"/>
            <a:ext cx="11027664" cy="1152144"/>
          </a:xfrm>
          <a:prstGeom prst="roundRect">
            <a:avLst>
              <a:gd name="adj" fmla="val 7143"/>
            </a:avLst>
          </a:prstGeom>
          <a:solidFill>
            <a:srgbClr val="E8EFE9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" y="4882896"/>
            <a:ext cx="402336" cy="402336"/>
          </a:xfrm>
          <a:prstGeom prst="ellipse">
            <a:avLst/>
          </a:prstGeom>
          <a:solidFill>
            <a:srgbClr val="6B7671"/>
          </a:solidFill>
          <a:ln/>
        </p:spPr>
      </p:sp>
      <p:sp>
        <p:nvSpPr>
          <p:cNvPr id="19" name="Text 17"/>
          <p:cNvSpPr/>
          <p:nvPr/>
        </p:nvSpPr>
        <p:spPr>
          <a:xfrm>
            <a:off x="1426464" y="464515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Maternal &amp; long-term: unknown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426464" y="5056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0.71–1.51 and −5.25 to 5.15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91456" y="4672584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Intervals this wide are compatible with almost anything. Absence of evidence, not evidence of absence — do not cite these as showing no effect.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222992" y="491032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PMID 27306908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C1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OF 3 — AGAINST INTUITION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Facility and community are not alternatives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4206240" cy="2286000"/>
          </a:xfrm>
          <a:prstGeom prst="roundRect">
            <a:avLst>
              <a:gd name="adj" fmla="val 3600"/>
            </a:avLst>
          </a:prstGeom>
          <a:solidFill>
            <a:srgbClr val="E8EFE9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38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the facility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23774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Kangaroo Mother Care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Skin-to-skin contact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initiation within the first hour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352958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the mortality intervention and the birth-moment contact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65776" y="2670048"/>
            <a:ext cx="786384" cy="420624"/>
          </a:xfrm>
          <a:prstGeom prst="rightArrow">
            <a:avLst/>
          </a:prstGeom>
          <a:solidFill>
            <a:srgbClr val="C1622F"/>
          </a:solidFill>
          <a:ln/>
        </p:spPr>
      </p:sp>
      <p:sp>
        <p:nvSpPr>
          <p:cNvPr id="9" name="Shape 7"/>
          <p:cNvSpPr/>
          <p:nvPr/>
        </p:nvSpPr>
        <p:spPr>
          <a:xfrm>
            <a:off x="6144768" y="1737360"/>
            <a:ext cx="4206240" cy="2286000"/>
          </a:xfrm>
          <a:prstGeom prst="roundRect">
            <a:avLst>
              <a:gd name="adj" fmla="val 3600"/>
            </a:avLst>
          </a:prstGeom>
          <a:solidFill>
            <a:srgbClr val="E8EFE9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19088" y="1938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in the community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19088" y="23774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CHW-delivered postnatal counselling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contacts — the dose that works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support, strongest in LMICs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19088" y="352958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the repeated contact that sustains the behaviour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4315968"/>
            <a:ext cx="11027664" cy="1170432"/>
          </a:xfrm>
          <a:prstGeom prst="roundRect">
            <a:avLst>
              <a:gd name="adj" fmla="val 7031"/>
            </a:avLst>
          </a:prstGeom>
          <a:solidFill>
            <a:srgbClr val="F7EAE1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7824" y="4315968"/>
            <a:ext cx="104058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combine rather than compete.  </a:t>
            </a:r>
            <a:pPr indent="0" marL="0"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act at different moments, deliver different outcomes, and each is insufficient alone — and Kangaroo Mother Care works in both settings, so the channel is not the choice. The untested part is the handover between them.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6254496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PMID 36282618 · DOI 10.1136/bmjgh-2022-010728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LEVER THAT RECURS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1887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delivery from facilities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community health workers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2852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appears in all three interventions — the closest thing to a transferable finding in this review.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3611880"/>
            <a:ext cx="3310128" cy="1572768"/>
          </a:xfrm>
          <a:prstGeom prst="roundRect">
            <a:avLst>
              <a:gd name="adj" fmla="val 523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785616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Malnutrition treatment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187952"/>
            <a:ext cx="27980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coverage gains in Mali, Tanzania and Mauritania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3611880"/>
            <a:ext cx="3310128" cy="1572768"/>
          </a:xfrm>
          <a:prstGeom prst="roundRect">
            <a:avLst>
              <a:gd name="adj" fmla="val 523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370832" y="3785616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Breastfeeding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70832" y="4187952"/>
            <a:ext cx="27980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visits cut newborn deaths — but only when CHWs deliver them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62672" y="3611880"/>
            <a:ext cx="3310128" cy="1572768"/>
          </a:xfrm>
          <a:prstGeom prst="roundRect">
            <a:avLst>
              <a:gd name="adj" fmla="val 523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918704" y="3785616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18704" y="4187952"/>
            <a:ext cx="27980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to Nepal's national coverage rise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precisely on the next slide — the detail changes what you can claim.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C1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LEVER, STATED PRECISELY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case actually shows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529584" cy="365760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536192"/>
            <a:ext cx="3529584" cy="841248"/>
          </a:xfrm>
          <a:prstGeom prst="roundRect">
            <a:avLst>
              <a:gd name="adj" fmla="val 9783"/>
            </a:avLst>
          </a:prstGeom>
          <a:solidFill>
            <a:srgbClr val="1F3D2B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536192"/>
            <a:ext cx="29809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" y="2523744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6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28.7% → 57.1%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41248" y="3072384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20.4% → 61.1% in a second district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3602736"/>
            <a:ext cx="29809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1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Caveat.  </a:t>
            </a:r>
            <a:pPr indent="0" marL="0">
              <a:buNone/>
            </a:pPr>
            <a:r>
              <a:rPr lang="en-US" sz="11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 change in a third (28.4% → 28.5%). The authors attribute the difference to where workers were placed relative to underserved populations.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" y="4864608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10.1186/s12960-022-00771-8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334256" y="1536192"/>
            <a:ext cx="3529584" cy="365760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34256" y="1536192"/>
            <a:ext cx="3529584" cy="841248"/>
          </a:xfrm>
          <a:prstGeom prst="roundRect">
            <a:avLst>
              <a:gd name="adj" fmla="val 9783"/>
            </a:avLst>
          </a:prstGeom>
          <a:solidFill>
            <a:srgbClr val="1F3D2B"/>
          </a:solidFill>
          <a:ln/>
        </p:spPr>
      </p:sp>
      <p:sp>
        <p:nvSpPr>
          <p:cNvPr id="13" name="Text 11"/>
          <p:cNvSpPr/>
          <p:nvPr/>
        </p:nvSpPr>
        <p:spPr>
          <a:xfrm>
            <a:off x="4608576" y="1536192"/>
            <a:ext cx="29809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Tanzania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08576" y="2523744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6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80.9% vs 41.7%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08576" y="3072384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CHW home treatment vs comparison area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08576" y="3602736"/>
            <a:ext cx="29809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1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Caveat.  </a:t>
            </a:r>
            <a:pPr indent="0" marL="0">
              <a:buNone/>
            </a:pPr>
            <a:r>
              <a:rPr lang="en-US" sz="11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comparison between two areas, not a before-and-after — and a non-randomised pilot.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08576" y="4864608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10.1038/s41598-021-81811-6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101584" y="1536192"/>
            <a:ext cx="3529584" cy="365760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01584" y="1536192"/>
            <a:ext cx="3529584" cy="841248"/>
          </a:xfrm>
          <a:prstGeom prst="roundRect">
            <a:avLst>
              <a:gd name="adj" fmla="val 9783"/>
            </a:avLst>
          </a:prstGeom>
          <a:solidFill>
            <a:srgbClr val="1F3D2B"/>
          </a:solidFill>
          <a:ln/>
        </p:spPr>
      </p:sp>
      <p:sp>
        <p:nvSpPr>
          <p:cNvPr id="20" name="Text 18"/>
          <p:cNvSpPr/>
          <p:nvPr/>
        </p:nvSpPr>
        <p:spPr>
          <a:xfrm>
            <a:off x="8375904" y="1536192"/>
            <a:ext cx="29809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Nepal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75904" y="2523744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6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23% → 91%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375904" y="3072384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supplement coverage, 2001–2016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75904" y="3602736"/>
            <a:ext cx="29809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1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Caveat.  </a:t>
            </a:r>
            <a:pPr indent="0" marL="0">
              <a:buNone/>
            </a:pPr>
            <a:r>
              <a:rPr lang="en-US" sz="11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rise closely tracked antenatal coverage, which went from 49% to 94% over the same period. The volunteers cannot be credited alone.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75904" y="4864608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10.1111/mcn.13173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66928" y="539496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direction is consistent. The magnitude is not — and it depends on placement.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C1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QUALIFICATIONS TRAVEL WITH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lever does not hold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11027664" cy="1133856"/>
          </a:xfrm>
          <a:prstGeom prst="roundRect">
            <a:avLst>
              <a:gd name="adj" fmla="val 7258"/>
            </a:avLst>
          </a:prstGeom>
          <a:solidFill>
            <a:srgbClr val="E8EFE9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2020824"/>
            <a:ext cx="420624" cy="420624"/>
          </a:xfrm>
          <a:prstGeom prst="ellipse">
            <a:avLst/>
          </a:prstGeom>
          <a:solidFill>
            <a:srgbClr val="C1622F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2020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99616" y="1792224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gains are not quality gains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99616" y="219456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Pakistan, community-delivered treatment achieved lower recovery than facility care — 76.0% against 82.95%.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308592" y="20482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10.1186/s12889-018-6382-9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6928" y="2962656"/>
            <a:ext cx="11027664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77824" y="3319272"/>
            <a:ext cx="420624" cy="420624"/>
          </a:xfrm>
          <a:prstGeom prst="ellipse">
            <a:avLst/>
          </a:prstGeom>
          <a:solidFill>
            <a:srgbClr val="C1622F"/>
          </a:solidFill>
          <a:ln/>
        </p:spPr>
      </p:sp>
      <p:sp>
        <p:nvSpPr>
          <p:cNvPr id="12" name="Text 10"/>
          <p:cNvSpPr/>
          <p:nvPr/>
        </p:nvSpPr>
        <p:spPr>
          <a:xfrm>
            <a:off x="877824" y="3319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99616" y="3090672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people is not treating them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499616" y="3493008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Mali programme raised screening coverage 40 percentage points while treatment coverage stayed at 7.6%.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308592" y="33467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10.1371/journal.pmed.1002892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66928" y="4261104"/>
            <a:ext cx="11027664" cy="1133856"/>
          </a:xfrm>
          <a:prstGeom prst="roundRect">
            <a:avLst>
              <a:gd name="adj" fmla="val 7258"/>
            </a:avLst>
          </a:prstGeom>
          <a:solidFill>
            <a:srgbClr val="E8EFE9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7824" y="4617720"/>
            <a:ext cx="420624" cy="420624"/>
          </a:xfrm>
          <a:prstGeom prst="ellipse">
            <a:avLst/>
          </a:prstGeom>
          <a:solidFill>
            <a:srgbClr val="C1622F"/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" y="4617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99616" y="438912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cadres are already overloaded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499616" y="4791456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unpaid, and carrying family planning, immunisation and emergency response. Adding a mandate is a design risk, not a free win.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6254496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coverage target should specify whether it means finding people or treating them, and should be paired with a quality measure.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C1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PACKAGED OPTIONS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evidence supports as coherent packages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27664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108960"/>
                <a:gridCol w="3108960"/>
                <a:gridCol w="311810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Facility newborn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— Community treatment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— Antenatal commodity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KMC, skin-to-skin and early initiation at the facility, then community counselling at 4–8 contacts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Malnutrition treatment decentralised to CHWs, simplified protocol, plus supervision and supply chain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Switching antenatal supplements from iron-folic acid to MMS, with contact and counselling intensification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 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Health-system platform + behavioural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Health-system treatment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Commodity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Mortality, high certainty (RR 0.68)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coverage gains, replicated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 outcomes, settled (RR 0.73–0.85)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Mortality benefit?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Indirectly — treats a condition with ~11% case fatality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Stillbirth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exists?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 — only Ethiopia at national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replaces an existing commodity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Hardest part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Facility 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and supply at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Adherence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254496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map onto the three scaling positions partners chose these interventions to test.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C1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BETWEEN THEM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observations that should drive the decision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3529584" cy="3127248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20240"/>
            <a:ext cx="475488" cy="475488"/>
          </a:xfrm>
          <a:prstGeom prst="ellipse">
            <a:avLst/>
          </a:prstGeom>
          <a:solidFill>
            <a:srgbClr val="C1622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542032"/>
            <a:ext cx="2980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are not equally novel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3310128"/>
            <a:ext cx="29809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 is a substitution into an existing channel. Option B often means building a service that does not yet exist. That difference matters more for feasibility than any effect size in this review.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4256" y="1664208"/>
            <a:ext cx="3529584" cy="3127248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920240"/>
            <a:ext cx="475488" cy="475488"/>
          </a:xfrm>
          <a:prstGeom prst="ellipse">
            <a:avLst/>
          </a:prstGeom>
          <a:solidFill>
            <a:srgbClr val="1F3D2B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08576" y="2542032"/>
            <a:ext cx="2980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and B compete for the same cadre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08576" y="3310128"/>
            <a:ext cx="29809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load community health workers — one with postnatal visits, one with treatment. Running both is the highest-risk configuration here, and should be costed as a workforce expansion, not an add-on.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1664208"/>
            <a:ext cx="3529584" cy="3127248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1920240"/>
            <a:ext cx="475488" cy="475488"/>
          </a:xfrm>
          <a:prstGeom prst="ellipse">
            <a:avLst/>
          </a:prstGeom>
          <a:solidFill>
            <a:srgbClr val="5C8A6A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75904" y="2542032"/>
            <a:ext cx="2980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A carries high-certainty mortality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75904" y="3310128"/>
            <a:ext cx="29809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objective is deaths averted on the firmest evidence, that is the discriminating fact. If it is reach, B addresses the largest coverage gap. If it is a fast tractable win, C is least disruptive.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5029200"/>
            <a:ext cx="11027664" cy="749808"/>
          </a:xfrm>
          <a:prstGeom prst="roundRect">
            <a:avLst>
              <a:gd name="adj" fmla="val 10976"/>
            </a:avLst>
          </a:prstGeom>
          <a:solidFill>
            <a:srgbClr val="F7EAE1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77824" y="5029200"/>
            <a:ext cx="10405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that these options are not a menu of equals — they answer different objectives.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C1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INTERVENTIONS BE COMBINED?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Partly — and less than partners may hope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5394960" cy="1170432"/>
          </a:xfrm>
          <a:prstGeom prst="roundRect">
            <a:avLst>
              <a:gd name="adj" fmla="val 7031"/>
            </a:avLst>
          </a:prstGeom>
          <a:solidFill>
            <a:srgbClr val="1F3D2B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609344"/>
            <a:ext cx="47731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173</a:t>
            </a:r>
            <a:pPr indent="0" marL="0">
              <a:buNone/>
            </a:pPr>
            <a:r>
              <a:rPr lang="en-US" sz="1350" dirty="0">
                <a:solidFill>
                  <a:srgbClr val="E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648 records discuss combination — but only  </a:t>
            </a:r>
            <a:pPr indent="0" marL="0">
              <a:buNone/>
            </a:pPr>
            <a:r>
              <a:rPr lang="en-US" sz="2600" b="1" dirty="0">
                <a:solidFill>
                  <a:srgbClr val="C16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pPr indent="0" marL="0">
              <a:buNone/>
            </a:pPr>
            <a:r>
              <a:rPr lang="en-US" sz="1350" dirty="0">
                <a:solidFill>
                  <a:srgbClr val="E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actually test one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2944368"/>
            <a:ext cx="5394960" cy="2121408"/>
          </a:xfrm>
          <a:prstGeom prst="roundRect">
            <a:avLst>
              <a:gd name="adj" fmla="val 3879"/>
            </a:avLst>
          </a:prstGeom>
          <a:solidFill>
            <a:srgbClr val="E8EFE9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3108960"/>
            <a:ext cx="4773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 evidenced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7824" y="3529584"/>
            <a:ext cx="4773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within an intervention — simplified protocols merging severe and moderate treatment; the facility-plus-community breastfeeding configuration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with a demand-side mechanism — cash added to treatment improved recovery (HR 1.35) and cut relapse (HR 0.21); women's groups plus cash raised supplement consumption 2.5–4.6 fold in Nepal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6208" y="1609344"/>
            <a:ext cx="5358384" cy="3456432"/>
          </a:xfrm>
          <a:prstGeom prst="roundRect">
            <a:avLst>
              <a:gd name="adj" fmla="val 2381"/>
            </a:avLst>
          </a:prstGeom>
          <a:solidFill>
            <a:srgbClr val="F7EAE1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47104" y="1810512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evidenced — and one warning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47104" y="2249424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trial in our corpus combines the three interventions with each other.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47104" y="2779776"/>
            <a:ext cx="473659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03136" y="2926080"/>
            <a:ext cx="4224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1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backfired once.  </a:t>
            </a:r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supplements to community screening in Mali raised screening coverage 40 percentage points — but produced no improvement in treatment coverage, and </a:t>
            </a:r>
            <a:pPr indent="0" marL="0">
              <a:buNone/>
            </a:pPr>
            <a:r>
              <a:rPr lang="en-US" sz="12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enrolment</a:t>
            </a:r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malnutrition programme it was added to.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03136" y="4407408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10.1371/journal.pmed.1002892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6928" y="5248656"/>
            <a:ext cx="11027664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7824" y="5248656"/>
            <a:ext cx="10405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is not additive.  </a:t>
            </a:r>
            <a:pPr indent="0" marL="0"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task to a community platform can displace an existing one. Any combined design should treat “does enrolment in the existing service hold?” as a measured outcome.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C1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— COUNTRIES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Eleven countries carry evidence across all three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58384" cy="1408176"/>
          </a:xfrm>
          <a:prstGeom prst="roundRect">
            <a:avLst>
              <a:gd name="adj" fmla="val 5844"/>
            </a:avLst>
          </a:prstGeom>
          <a:solidFill>
            <a:srgbClr val="E8EFE9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17190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Ethiopia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9536" y="2103120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country where all three interventions already run through a single government community platform — roughly 40,000 Health Extension Workers. Also where the quality problem is best documented: recovery fell as the programme matured.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36208" y="1572768"/>
            <a:ext cx="5358384" cy="1408176"/>
          </a:xfrm>
          <a:prstGeom prst="roundRect">
            <a:avLst>
              <a:gd name="adj" fmla="val 58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28816" y="17190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28816" y="2103120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densest formal platform architecture and live national missions. Failures documented in inter-sectoral coordination and frontline-worker incentives rather than in platform existence.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145536"/>
            <a:ext cx="5358384" cy="1408176"/>
          </a:xfrm>
          <a:prstGeom prst="roundRect">
            <a:avLst>
              <a:gd name="adj" fmla="val 5844"/>
            </a:avLst>
          </a:prstGeom>
          <a:solidFill>
            <a:srgbClr val="E8EFE9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9536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Nepal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9536" y="3675888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clearest national coverage turnaround in the corpus — and its own literature proposes that platform for the iron-folic-acid-to-MMS switch.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6208" y="3145536"/>
            <a:ext cx="5358384" cy="1408176"/>
          </a:xfrm>
          <a:prstGeom prst="roundRect">
            <a:avLst>
              <a:gd name="adj" fmla="val 58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28816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Pakistan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28816" y="3675888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national MMS commitment already made — and the sharpest counter-signal, where community-delivered treatment under-performed facility care.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4754880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Bangladesh, Kenya, Ghana, Malawi, Niger, Indonesia and Nigeria all carry enough evidence to describe.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5157216"/>
            <a:ext cx="11027664" cy="786384"/>
          </a:xfrm>
          <a:prstGeom prst="roundRect">
            <a:avLst>
              <a:gd name="adj" fmla="val 10465"/>
            </a:avLst>
          </a:prstGeom>
          <a:solidFill>
            <a:srgbClr val="F7EAE1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77824" y="5157216"/>
            <a:ext cx="104058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country evidence volume as research attention, not suitability.  </a:t>
            </a:r>
            <a:pPr indent="0" marL="0"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country appears prominently because it has been studied.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5C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SETTLE THE CHOICE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of this is in the corpus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901952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rough order of decisiveness — these are relationship, operational and financing questions, not evidence questions.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505456"/>
            <a:ext cx="384048" cy="384048"/>
          </a:xfrm>
          <a:prstGeom prst="ellipse">
            <a:avLst/>
          </a:prstGeom>
          <a:solidFill>
            <a:srgbClr val="C1622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33856" y="2505456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appetite and current policy windows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66928" y="3072384"/>
            <a:ext cx="384048" cy="384048"/>
          </a:xfrm>
          <a:prstGeom prst="ellipse">
            <a:avLst/>
          </a:prstGeom>
          <a:solidFill>
            <a:srgbClr val="C1622F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3856" y="3072384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and IA operational footprint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66928" y="3639312"/>
            <a:ext cx="384048" cy="384048"/>
          </a:xfrm>
          <a:prstGeom prst="ellipse">
            <a:avLst/>
          </a:prstGeom>
          <a:solidFill>
            <a:srgbClr val="C1622F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33856" y="363931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Fragility and security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66928" y="4206240"/>
            <a:ext cx="384048" cy="384048"/>
          </a:xfrm>
          <a:prstGeom prst="ellipse">
            <a:avLst/>
          </a:prstGeom>
          <a:solidFill>
            <a:srgbClr val="C1622F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33856" y="42062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financing landscape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66928" y="4773168"/>
            <a:ext cx="384048" cy="384048"/>
          </a:xfrm>
          <a:prstGeom prst="ellipse">
            <a:avLst/>
          </a:prstGeom>
          <a:solidFill>
            <a:srgbClr val="C1622F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33856" y="477316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772400" y="2505456"/>
            <a:ext cx="3822192" cy="2286000"/>
          </a:xfrm>
          <a:prstGeom prst="roundRect">
            <a:avLst>
              <a:gd name="adj" fmla="val 36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065008" y="2706624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practical route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065008" y="3145536"/>
            <a:ext cx="3236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three or four countries where partners already have a footprint, and assess those against the factors on the left with partner input.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561441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does not score, rank or recommend a country. The corpus supports description, not ordering.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C1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CONFIDENCE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far to trust this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5394960" cy="2084832"/>
          </a:xfrm>
          <a:prstGeom prst="roundRect">
            <a:avLst>
              <a:gd name="adj" fmla="val 3947"/>
            </a:avLst>
          </a:prstGeom>
          <a:solidFill>
            <a:srgbClr val="1F3D2B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810512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C16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2212848" y="1883664"/>
            <a:ext cx="3438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that cannot be traced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corpus record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2798064"/>
            <a:ext cx="47731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numeric claim traces to a specific record in an evidence database built only from the retrieved corpus. An automated verifier checks each cited number against its source.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6208" y="1609344"/>
            <a:ext cx="5358384" cy="2084832"/>
          </a:xfrm>
          <a:prstGeom prst="roundRect">
            <a:avLst>
              <a:gd name="adj" fmla="val 3947"/>
            </a:avLst>
          </a:prstGeom>
          <a:solidFill>
            <a:srgbClr val="F7EAE1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47104" y="1792224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that does not establish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47104" y="2212848"/>
            <a:ext cx="4736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the source study is correct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 pooled estimate is well-constructed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our interpretation is the only reasonable one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877056"/>
            <a:ext cx="11027664" cy="914400"/>
          </a:xfrm>
          <a:prstGeom prst="roundRect">
            <a:avLst>
              <a:gd name="adj" fmla="val 9000"/>
            </a:avLst>
          </a:prstGeom>
          <a:solidFill>
            <a:srgbClr val="E8EFE9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77824" y="3877056"/>
            <a:ext cx="10405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known limit.  </a:t>
            </a:r>
            <a:pPr indent="0" marL="0"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draws on PubMed and OpenAlex, so grey literature and government programme documentation are under-represented — which matters disproportionately for implementation questions.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11027664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1F3D2B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7824" y="4974336"/>
            <a:ext cx="10405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covered.  </a:t>
            </a:r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cost-effectiveness, deferred by design — though two findings here are cost findings in disguise: a simplified protocol holds recovery on ~46% less therapeutic food, and cutting that food's dairy content, the main cost driver, measurably worsens recovery. And no country recommendation or ranking.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Scaling High-Impact Nutrition Interventions</dc:title>
  <dc:subject>PptxGenJS Presentation</dc:subject>
  <dc:creator>CARE / ScaleWorks evidence review</dc:creator>
  <cp:lastModifiedBy>CARE / ScaleWorks evidence review</cp:lastModifiedBy>
  <cp:revision>1</cp:revision>
  <dcterms:created xsi:type="dcterms:W3CDTF">2026-08-05T19:15:18Z</dcterms:created>
  <dcterms:modified xsi:type="dcterms:W3CDTF">2026-08-05T19:15:18Z</dcterms:modified>
</cp:coreProperties>
</file>